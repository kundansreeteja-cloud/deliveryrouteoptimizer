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3152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B8F"/>
          </a:solidFill>
          <a:ln w="12700">
            <a:solidFill>
              <a:srgbClr val="183B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Route Optimizer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651052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• TSP Optimization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4A"/>
          </a:solidFill>
          <a:ln w="12700">
            <a:solidFill>
              <a:srgbClr val="0F1F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914400"/>
            <a:ext cx="5120640" cy="5120640"/>
          </a:xfrm>
          <a:prstGeom prst="arc">
            <a:avLst/>
          </a:prstGeom>
          <a:noFill/>
          <a:ln w="38100">
            <a:solidFill>
              <a:srgbClr val="2F63D7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1097280"/>
            <a:ext cx="4297680" cy="4297680"/>
          </a:xfrm>
          <a:prstGeom prst="arc">
            <a:avLst/>
          </a:prstGeom>
          <a:noFill/>
          <a:ln w="25400">
            <a:solidFill>
              <a:srgbClr val="2EA3F2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82296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2458D3"/>
          </a:solidFill>
          <a:ln w="12700">
            <a:solidFill>
              <a:srgbClr val="245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92354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HACKATHON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481328"/>
            <a:ext cx="7040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Delivery Route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Optimizer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" y="288036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8E5FF"/>
                </a:solidFill>
              </a:rPr>
              <a:t>Shortest delivery tour using Dynamic Programming &amp; Branch and Bound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138160" y="429768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02752" y="4462272"/>
            <a:ext cx="950976" cy="0"/>
          </a:xfrm>
          <a:prstGeom prst="line">
            <a:avLst/>
          </a:prstGeom>
          <a:noFill/>
          <a:ln w="25400">
            <a:solidFill>
              <a:srgbClr val="7CA4F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235440" y="3291840"/>
            <a:ext cx="182880" cy="182880"/>
          </a:xfrm>
          <a:prstGeom prst="ellipse">
            <a:avLst/>
          </a:prstGeom>
          <a:solidFill>
            <a:srgbClr val="0EA6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00032" y="3456432"/>
            <a:ext cx="859536" cy="402336"/>
          </a:xfrm>
          <a:prstGeom prst="line">
            <a:avLst/>
          </a:prstGeom>
          <a:noFill/>
          <a:ln w="25400">
            <a:solidFill>
              <a:srgbClr val="7CA4F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241280" y="3840480"/>
            <a:ext cx="182880" cy="182880"/>
          </a:xfrm>
          <a:prstGeom prst="ellipse">
            <a:avLst/>
          </a:prstGeom>
          <a:solidFill>
            <a:srgbClr val="0EA6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05872" y="4005072"/>
            <a:ext cx="493776" cy="0"/>
          </a:xfrm>
          <a:prstGeom prst="line">
            <a:avLst/>
          </a:prstGeom>
          <a:noFill/>
          <a:ln w="25400">
            <a:solidFill>
              <a:srgbClr val="7CA4F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881360" y="2468880"/>
            <a:ext cx="182880" cy="182880"/>
          </a:xfrm>
          <a:prstGeom prst="ellipse">
            <a:avLst/>
          </a:prstGeom>
          <a:solidFill>
            <a:srgbClr val="0EA6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045952" y="2633472"/>
            <a:ext cx="0" cy="0"/>
          </a:xfrm>
          <a:prstGeom prst="line">
            <a:avLst/>
          </a:prstGeom>
          <a:noFill/>
          <a:ln w="25400">
            <a:solidFill>
              <a:srgbClr val="7CA4F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784080" y="1920240"/>
            <a:ext cx="182880" cy="182880"/>
          </a:xfrm>
          <a:prstGeom prst="ellipse">
            <a:avLst/>
          </a:prstGeom>
          <a:solidFill>
            <a:srgbClr val="0EA6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48672" y="2084832"/>
            <a:ext cx="0" cy="493776"/>
          </a:xfrm>
          <a:prstGeom prst="line">
            <a:avLst/>
          </a:prstGeom>
          <a:noFill/>
          <a:ln w="25400">
            <a:solidFill>
              <a:srgbClr val="7CA4F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869680" y="2560320"/>
            <a:ext cx="182880" cy="182880"/>
          </a:xfrm>
          <a:prstGeom prst="ellipse">
            <a:avLst/>
          </a:prstGeom>
          <a:solidFill>
            <a:srgbClr val="0EA6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02752" y="4462272"/>
            <a:ext cx="0" cy="0"/>
          </a:xfrm>
          <a:prstGeom prst="line">
            <a:avLst/>
          </a:prstGeom>
          <a:noFill/>
          <a:ln w="25400">
            <a:solidFill>
              <a:srgbClr val="7CA4FF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48574" y="4297680"/>
            <a:ext cx="632316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5FF"/>
                </a:solidFill>
              </a:rPr>
              <a:t>Team: </a:t>
            </a:r>
            <a:r>
              <a:rPr lang="en-US" sz="1300" b="1" dirty="0">
                <a:solidFill>
                  <a:srgbClr val="D8E5FF"/>
                </a:solidFill>
              </a:rPr>
              <a:t>SAI BHARGAV [25MVCMR0233]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D8E5FF"/>
                </a:solidFill>
              </a:rPr>
              <a:t>              KUNDAN SREETEJA [25MVCSMR0228]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D8E5FF"/>
                </a:solidFill>
              </a:rPr>
              <a:t>              DEEKSHITH REDDY [25MVCSMR0261]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D8E5FF"/>
                </a:solidFill>
              </a:rPr>
              <a:t>               SHIVA MANI [25MVCSMR0216]</a:t>
            </a:r>
            <a:endParaRPr lang="en-US" sz="1300" b="1" dirty="0"/>
          </a:p>
        </p:txBody>
      </p:sp>
      <p:sp>
        <p:nvSpPr>
          <p:cNvPr id="22" name="Text 20"/>
          <p:cNvSpPr/>
          <p:nvPr/>
        </p:nvSpPr>
        <p:spPr>
          <a:xfrm>
            <a:off x="749808" y="5486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5FF"/>
                </a:solidFill>
              </a:rPr>
              <a:t>College:  MALLAREDDY TECHNICAL CAMPUS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" y="6108192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DB8FF"/>
                </a:solidFill>
              </a:rPr>
              <a:t>Problem Domain  •  Algorithms / Optimization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3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The Challenge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Turning a real delivery requirement into a precise optimization problem.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blurRad="12700" dist="50800" dir="2700000" algn="bl" rotWithShape="0">
              <a:srgbClr val="9AA6B2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508760"/>
            <a:ext cx="1508760" cy="310896"/>
          </a:xfrm>
          <a:prstGeom prst="roundRect">
            <a:avLst>
              <a:gd name="adj" fmla="val 20588"/>
            </a:avLst>
          </a:prstGeom>
          <a:solidFill>
            <a:srgbClr val="2458D3"/>
          </a:solidFill>
          <a:ln w="12700">
            <a:solidFill>
              <a:srgbClr val="245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2704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REAL-WORLD PROBLEM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1938528"/>
            <a:ext cx="48006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233D"/>
                </a:solidFill>
              </a:rPr>
              <a:t>A delivery vehicle must visit multiple customer locations, minimize travel distance, and return to the starting depot.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154680"/>
            <a:ext cx="73152" cy="73152"/>
          </a:xfrm>
          <a:prstGeom prst="ellipse">
            <a:avLst/>
          </a:prstGeom>
          <a:solidFill>
            <a:srgbClr val="2458D3"/>
          </a:solidFill>
          <a:ln w="12700">
            <a:solidFill>
              <a:srgbClr val="2458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3063240"/>
            <a:ext cx="4334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Start from a chosen depot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73152" cy="73152"/>
          </a:xfrm>
          <a:prstGeom prst="ellipse">
            <a:avLst/>
          </a:prstGeom>
          <a:solidFill>
            <a:srgbClr val="2458D3"/>
          </a:solidFill>
          <a:ln w="12700">
            <a:solidFill>
              <a:srgbClr val="2458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3566160"/>
            <a:ext cx="4334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Visit every customer exactly once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160520"/>
            <a:ext cx="73152" cy="73152"/>
          </a:xfrm>
          <a:prstGeom prst="ellipse">
            <a:avLst/>
          </a:prstGeom>
          <a:solidFill>
            <a:srgbClr val="2458D3"/>
          </a:solidFill>
          <a:ln w="12700">
            <a:solidFill>
              <a:srgbClr val="2458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4069080"/>
            <a:ext cx="4334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Return to the depot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663440"/>
            <a:ext cx="73152" cy="73152"/>
          </a:xfrm>
          <a:prstGeom prst="ellipse">
            <a:avLst/>
          </a:prstGeom>
          <a:solidFill>
            <a:srgbClr val="2458D3"/>
          </a:solidFill>
          <a:ln w="12700">
            <a:solidFill>
              <a:srgbClr val="2458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4572000"/>
            <a:ext cx="4334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Minimize total route distance / cost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5157216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58D3"/>
                </a:solidFill>
              </a:rPr>
              <a:t>This is modeled as the Travelling Salesman Problem (TSP).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1234440"/>
            <a:ext cx="5330952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blurRad="12700" dist="50800" dir="2700000" algn="bl" rotWithShape="0">
              <a:srgbClr val="9AA6B2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0" y="1508760"/>
            <a:ext cx="1325880" cy="310896"/>
          </a:xfrm>
          <a:prstGeom prst="roundRect">
            <a:avLst>
              <a:gd name="adj" fmla="val 2058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52704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KEY CHALLENGES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83680" y="2057400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33D"/>
                </a:solidFill>
              </a:rPr>
              <a:t>Route explosion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046720" y="20574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</a:rPr>
              <a:t>Possible tours grow factorially as locations increase.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6583680" y="2834640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33D"/>
                </a:solidFill>
              </a:rPr>
              <a:t>Exact optimization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046720" y="2834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</a:rPr>
              <a:t>A good-looking route is not enough; we need the minimum-distance tour.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6583680" y="3611880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33D"/>
                </a:solidFill>
              </a:rPr>
              <a:t>Explainability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046720" y="36118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</a:rPr>
              <a:t>Judges and users need to see why a route was selected.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6583680" y="4389120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33D"/>
                </a:solidFill>
              </a:rPr>
              <a:t>Comparison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046720" y="43891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</a:rPr>
              <a:t>Use two exact approaches and compare their behavior on the same input.</a:t>
            </a:r>
            <a:endParaRPr lang="en-US" sz="112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3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Our Innovation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A visual, interactive optimizer that makes the algorithm visible—not just the final number.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F0F5FF"/>
          </a:solidFill>
          <a:ln w="12700">
            <a:solidFill>
              <a:srgbClr val="D9E2F2"/>
            </a:solidFill>
            <a:prstDash val="solid"/>
          </a:ln>
          <a:effectLst>
            <a:outerShdw blurRad="12700" dist="50800" dir="2700000" algn="bl" rotWithShape="0">
              <a:srgbClr val="9AA6B2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6002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458D3"/>
                </a:solidFill>
              </a:rPr>
              <a:t>CORE IDEA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" y="20574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33D"/>
                </a:solidFill>
              </a:rPr>
              <a:t>“Give the user the route,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0233D"/>
                </a:solidFill>
              </a:rPr>
              <a:t>the reason, and the evidence.”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41248" y="3401568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</a:rPr>
              <a:t>The system lets a user change locations, choose a starting depot, select an algorithm, and watch the optimized route appear on the canvas.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4526280" y="1298448"/>
            <a:ext cx="3364992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blurRad="12700" dist="50800" dir="2700000" algn="bl" rotWithShape="0">
              <a:srgbClr val="9AA6B2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27448" y="1508760"/>
            <a:ext cx="310896" cy="310896"/>
          </a:xfrm>
          <a:prstGeom prst="ellipse">
            <a:avLst/>
          </a:prstGeom>
          <a:solidFill>
            <a:srgbClr val="2458D3"/>
          </a:solidFill>
          <a:ln w="12700">
            <a:solidFill>
              <a:srgbClr val="2458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66360" y="14813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33D"/>
                </a:solidFill>
              </a:rPr>
              <a:t>Interactive input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965960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</a:rPr>
              <a:t>Add, edit, or remove locations and coordinates.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4526280" y="1298448"/>
            <a:ext cx="3364992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blurRad="12700" dist="50800" dir="2700000" algn="bl" rotWithShape="0">
              <a:srgbClr val="9AA6B2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7448" y="1508760"/>
            <a:ext cx="310896" cy="310896"/>
          </a:xfrm>
          <a:prstGeom prst="ellipse">
            <a:avLst/>
          </a:prstGeom>
          <a:solidFill>
            <a:srgbClr val="0EA66B"/>
          </a:solidFill>
          <a:ln w="12700">
            <a:solidFill>
              <a:srgbClr val="0EA6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14813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33D"/>
                </a:solidFill>
              </a:rPr>
              <a:t>Two exact methods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965960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</a:rPr>
              <a:t>Held-Karp DP + Branch &amp; Bound on the same instance.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7973568" y="1298448"/>
            <a:ext cx="3364992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blurRad="12700" dist="50800" dir="2700000" algn="bl" rotWithShape="0">
              <a:srgbClr val="9AA6B2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74736" y="1508760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13648" y="14813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33D"/>
                </a:solidFill>
              </a:rPr>
              <a:t>Visual proof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02168" y="1965960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</a:rPr>
              <a:t>Route order, arrows, coordinates, and distance matrix.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4526280" y="3355848"/>
            <a:ext cx="3364992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blurRad="12700" dist="50800" dir="2700000" algn="bl" rotWithShape="0">
              <a:srgbClr val="9AA6B2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27448" y="3566160"/>
            <a:ext cx="310896" cy="310896"/>
          </a:xfrm>
          <a:prstGeom prst="ellipse">
            <a:avLst/>
          </a:prstGeom>
          <a:solidFill>
            <a:srgbClr val="2EA3F2"/>
          </a:solidFill>
          <a:ln w="12700">
            <a:solidFill>
              <a:srgbClr val="2EA3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35387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33D"/>
                </a:solidFill>
              </a:rPr>
              <a:t>Judge-friendly comparison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4023360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</a:rPr>
              <a:t>Distance, runtime, state/node counts, and pruning.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4526280" y="5577840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458D3"/>
                </a:solidFill>
              </a:rPr>
              <a:t>Differentiator: the user can see the optimization process through two algorithmic lenses.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3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How It Works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Input → distance model → algorithm → optimal route → visual output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blurRad="12700" dist="50800" dir="2700000" algn="bl" rotWithShape="0">
              <a:srgbClr val="9AA6B2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91056"/>
            <a:ext cx="411480" cy="411480"/>
          </a:xfrm>
          <a:prstGeom prst="ellipse">
            <a:avLst/>
          </a:prstGeom>
          <a:solidFill>
            <a:srgbClr val="2458D3"/>
          </a:solidFill>
          <a:ln w="12700">
            <a:solidFill>
              <a:srgbClr val="245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550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157276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33D"/>
                </a:solidFill>
              </a:rPr>
              <a:t>Input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8096" y="20299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Locations + X/Y coordinates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Starting depot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82112" y="2121408"/>
            <a:ext cx="265176" cy="0"/>
          </a:xfrm>
          <a:prstGeom prst="line">
            <a:avLst/>
          </a:prstGeom>
          <a:noFill/>
          <a:ln w="25400">
            <a:solidFill>
              <a:srgbClr val="4473F1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47288" y="13716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blurRad="12700" dist="50800" dir="2700000" algn="bl" rotWithShape="0">
              <a:srgbClr val="9AA6B2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11880" y="1591056"/>
            <a:ext cx="411480" cy="411480"/>
          </a:xfrm>
          <a:prstGeom prst="ellipse">
            <a:avLst/>
          </a:prstGeom>
          <a:solidFill>
            <a:srgbClr val="2EA3F2"/>
          </a:solidFill>
          <a:ln w="12700">
            <a:solidFill>
              <a:srgbClr val="2EA3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16550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60520" y="157276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33D"/>
                </a:solidFill>
              </a:rPr>
              <a:t>Distance Matrix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48456" y="20299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Euclidean distance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between every pair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62472" y="2121408"/>
            <a:ext cx="265176" cy="0"/>
          </a:xfrm>
          <a:prstGeom prst="line">
            <a:avLst/>
          </a:prstGeom>
          <a:noFill/>
          <a:ln w="25400">
            <a:solidFill>
              <a:srgbClr val="4473F1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327648" y="13716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3FF"/>
          </a:solidFill>
          <a:ln w="12700">
            <a:solidFill>
              <a:srgbClr val="D9E2F2"/>
            </a:solidFill>
            <a:prstDash val="solid"/>
          </a:ln>
          <a:effectLst>
            <a:outerShdw blurRad="12700" dist="50800" dir="2700000" algn="bl" rotWithShape="0">
              <a:srgbClr val="9AA6B2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1591056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6550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0" y="157276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33D"/>
                </a:solidFill>
              </a:rPr>
              <a:t>Algorithm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28816" y="20299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Held-Karp DP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or Branch &amp; Bound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42832" y="2121408"/>
            <a:ext cx="265176" cy="0"/>
          </a:xfrm>
          <a:prstGeom prst="line">
            <a:avLst/>
          </a:prstGeom>
          <a:noFill/>
          <a:ln w="25400">
            <a:solidFill>
              <a:srgbClr val="4473F1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208008" y="13716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blurRad="12700" dist="50800" dir="2700000" algn="bl" rotWithShape="0">
              <a:srgbClr val="9AA6B2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72600" y="1591056"/>
            <a:ext cx="411480" cy="411480"/>
          </a:xfrm>
          <a:prstGeom prst="ellipse">
            <a:avLst/>
          </a:prstGeom>
          <a:solidFill>
            <a:srgbClr val="0EA66B"/>
          </a:solidFill>
          <a:ln w="12700">
            <a:solidFill>
              <a:srgbClr val="0EA6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72600" y="16550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921240" y="157276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33D"/>
                </a:solidFill>
              </a:rPr>
              <a:t>Output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409176" y="20299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Optimal tour + distance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+ runtime/statistics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" y="3246120"/>
            <a:ext cx="110642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blurRad="12700" dist="50800" dir="2700000" algn="bl" rotWithShape="0">
              <a:srgbClr val="9AA6B2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2960" y="35478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33D"/>
                </a:solidFill>
              </a:rPr>
              <a:t>User journey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68680" y="406908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EEF3FB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8408" y="424281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33D"/>
                </a:solidFill>
              </a:rPr>
              <a:t>Add / edit locations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697480" y="4398264"/>
            <a:ext cx="256032" cy="0"/>
          </a:xfrm>
          <a:prstGeom prst="line">
            <a:avLst/>
          </a:prstGeom>
          <a:noFill/>
          <a:ln w="25400">
            <a:solidFill>
              <a:srgbClr val="4473F1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990088" y="406908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EEF3FB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99816" y="424281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33D"/>
                </a:solidFill>
              </a:rPr>
              <a:t>Choose depot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18888" y="4398264"/>
            <a:ext cx="256032" cy="0"/>
          </a:xfrm>
          <a:prstGeom prst="line">
            <a:avLst/>
          </a:prstGeom>
          <a:noFill/>
          <a:ln w="25400">
            <a:solidFill>
              <a:srgbClr val="4473F1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111496" y="406908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EEF3FB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21224" y="424281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33D"/>
                </a:solidFill>
              </a:rPr>
              <a:t>Select DP / B&amp;B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940296" y="4398264"/>
            <a:ext cx="256032" cy="0"/>
          </a:xfrm>
          <a:prstGeom prst="line">
            <a:avLst/>
          </a:prstGeom>
          <a:noFill/>
          <a:ln w="25400">
            <a:solidFill>
              <a:srgbClr val="4473F1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232904" y="406908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EEF3FB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42632" y="424281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33D"/>
                </a:solidFill>
              </a:rPr>
              <a:t>Optimize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061704" y="4398264"/>
            <a:ext cx="256032" cy="0"/>
          </a:xfrm>
          <a:prstGeom prst="line">
            <a:avLst/>
          </a:prstGeom>
          <a:noFill/>
          <a:ln w="25400">
            <a:solidFill>
              <a:srgbClr val="4473F1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354312" y="406908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E8F7F1"/>
          </a:solidFill>
          <a:ln w="12700">
            <a:solidFill>
              <a:srgbClr val="0EA6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64040" y="424281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33D"/>
                </a:solidFill>
              </a:rPr>
              <a:t>Compare + visualize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68680" y="507492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334155"/>
                </a:solidFill>
              </a:rPr>
              <a:t>Key idea: both algorithms receive the same locations and optimize the same TSP objective, so their final optimal distance can be compared fairly.</a:t>
            </a:r>
            <a:endParaRPr lang="en-US" sz="114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3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Technology &amp; Algorithm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A lightweight browser-based prototype with a small Express API layer.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blurRad="12700" dist="50800" dir="2700000" algn="bl" rotWithShape="0">
              <a:srgbClr val="9AA6B2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572768"/>
            <a:ext cx="960120" cy="310896"/>
          </a:xfrm>
          <a:prstGeom prst="roundRect">
            <a:avLst>
              <a:gd name="adj" fmla="val 20588"/>
            </a:avLst>
          </a:prstGeom>
          <a:solidFill>
            <a:srgbClr val="2458D3"/>
          </a:solidFill>
          <a:ln w="12700">
            <a:solidFill>
              <a:srgbClr val="245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9105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TECH STACK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50392" y="2121408"/>
            <a:ext cx="219456" cy="219456"/>
          </a:xfrm>
          <a:prstGeom prst="ellipse">
            <a:avLst/>
          </a:prstGeom>
          <a:solidFill>
            <a:srgbClr val="2458D3"/>
          </a:solidFill>
          <a:ln w="12700">
            <a:solidFill>
              <a:srgbClr val="245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2084832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0233D"/>
                </a:solidFill>
              </a:rPr>
              <a:t>React + Vite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1207008" y="23500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667085"/>
                </a:solidFill>
              </a:rPr>
              <a:t>Interactive UI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850392" y="2871216"/>
            <a:ext cx="219456" cy="219456"/>
          </a:xfrm>
          <a:prstGeom prst="ellipse">
            <a:avLst/>
          </a:prstGeom>
          <a:solidFill>
            <a:srgbClr val="2EA3F2"/>
          </a:solidFill>
          <a:ln w="12700">
            <a:solidFill>
              <a:srgbClr val="2EA3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834640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0233D"/>
                </a:solidFill>
              </a:rPr>
              <a:t>JavaScript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1207008" y="30998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667085"/>
                </a:solidFill>
              </a:rPr>
              <a:t>Algorithm implementation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850392" y="3621024"/>
            <a:ext cx="219456" cy="219456"/>
          </a:xfrm>
          <a:prstGeom prst="ellipse">
            <a:avLst/>
          </a:prstGeom>
          <a:solidFill>
            <a:srgbClr val="0EA66B"/>
          </a:solidFill>
          <a:ln w="12700">
            <a:solidFill>
              <a:srgbClr val="0EA6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3584448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0233D"/>
                </a:solidFill>
              </a:rPr>
              <a:t>SVG / CSS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1207008" y="384962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667085"/>
                </a:solidFill>
              </a:rPr>
              <a:t>Route visualization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850392" y="4370832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4334256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0233D"/>
                </a:solidFill>
              </a:rPr>
              <a:t>Node.js + Express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1207008" y="45994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667085"/>
                </a:solidFill>
              </a:rPr>
              <a:t>Backend REST/API layer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4462272" y="1298448"/>
            <a:ext cx="71780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blurRad="12700" dist="50800" dir="2700000" algn="bl" rotWithShape="0">
              <a:srgbClr val="9AA6B2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36592" y="1572768"/>
            <a:ext cx="1005840" cy="310896"/>
          </a:xfrm>
          <a:prstGeom prst="roundRect">
            <a:avLst>
              <a:gd name="adj" fmla="val 2058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159105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ALGORITHMS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36592" y="2057400"/>
            <a:ext cx="3108960" cy="2240280"/>
          </a:xfrm>
          <a:prstGeom prst="roundRect">
            <a:avLst>
              <a:gd name="adj" fmla="val 3265"/>
            </a:avLst>
          </a:prstGeom>
          <a:solidFill>
            <a:srgbClr val="F8FAFF"/>
          </a:solidFill>
          <a:ln w="12700">
            <a:solidFill>
              <a:srgbClr val="D9E2F2"/>
            </a:solidFill>
            <a:prstDash val="solid"/>
          </a:ln>
          <a:effectLst>
            <a:outerShdw blurRad="12700" dist="50800" dir="2700000" algn="bl" rotWithShape="0">
              <a:srgbClr val="9AA6B2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56048" y="2304288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33D"/>
                </a:solidFill>
              </a:rPr>
              <a:t>Held-Karp Dynamic Programming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956048" y="3063240"/>
            <a:ext cx="73152" cy="73152"/>
          </a:xfrm>
          <a:prstGeom prst="ellipse">
            <a:avLst/>
          </a:prstGeom>
          <a:solidFill>
            <a:srgbClr val="2458D3"/>
          </a:solidFill>
          <a:ln w="12700">
            <a:solidFill>
              <a:srgbClr val="2458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2352" y="2971800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</a:rPr>
              <a:t>State = current node + visited set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4956048" y="3547872"/>
            <a:ext cx="73152" cy="73152"/>
          </a:xfrm>
          <a:prstGeom prst="ellipse">
            <a:avLst/>
          </a:prstGeom>
          <a:solidFill>
            <a:srgbClr val="2458D3"/>
          </a:solidFill>
          <a:ln w="12700">
            <a:solidFill>
              <a:srgbClr val="2458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02352" y="3456432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</a:rPr>
              <a:t>Reuses overlapping subproblems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4956048" y="4032504"/>
            <a:ext cx="73152" cy="73152"/>
          </a:xfrm>
          <a:prstGeom prst="ellipse">
            <a:avLst/>
          </a:prstGeom>
          <a:solidFill>
            <a:srgbClr val="2458D3"/>
          </a:solidFill>
          <a:ln w="12700">
            <a:solidFill>
              <a:srgbClr val="2458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02352" y="3941064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</a:rPr>
              <a:t>Exact route reconstruction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8065008" y="2057400"/>
            <a:ext cx="3255264" cy="2240280"/>
          </a:xfrm>
          <a:prstGeom prst="roundRect">
            <a:avLst>
              <a:gd name="adj" fmla="val 3265"/>
            </a:avLst>
          </a:prstGeom>
          <a:solidFill>
            <a:srgbClr val="FFFBF5"/>
          </a:solidFill>
          <a:ln w="12700">
            <a:solidFill>
              <a:srgbClr val="D9E2F2"/>
            </a:solidFill>
            <a:prstDash val="solid"/>
          </a:ln>
          <a:effectLst>
            <a:outerShdw blurRad="12700" dist="50800" dir="2700000" algn="bl" rotWithShape="0">
              <a:srgbClr val="9AA6B2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84464" y="23042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33D"/>
                </a:solidFill>
              </a:rPr>
              <a:t>Branch &amp; Bound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8284464" y="306324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30768" y="2971800"/>
            <a:ext cx="2551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</a:rPr>
              <a:t>Builds partial candidate routes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8284464" y="354787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30768" y="3456432"/>
            <a:ext cx="2551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</a:rPr>
              <a:t>Computes a lower bound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8284464" y="403250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30768" y="3941064"/>
            <a:ext cx="2551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</a:rPr>
              <a:t>Prunes non-promising branches</a:t>
            </a:r>
            <a:endParaRPr lang="en-US" sz="1120" dirty="0"/>
          </a:p>
        </p:txBody>
      </p:sp>
      <p:sp>
        <p:nvSpPr>
          <p:cNvPr id="38" name="Shape 36"/>
          <p:cNvSpPr/>
          <p:nvPr/>
        </p:nvSpPr>
        <p:spPr>
          <a:xfrm>
            <a:off x="4736592" y="4590288"/>
            <a:ext cx="6583680" cy="859536"/>
          </a:xfrm>
          <a:prstGeom prst="roundRect">
            <a:avLst>
              <a:gd name="adj" fmla="val 6383"/>
            </a:avLst>
          </a:prstGeom>
          <a:solidFill>
            <a:srgbClr val="EDF2F7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56048" y="48188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67085"/>
                </a:solidFill>
              </a:rPr>
              <a:t>Complexity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989320" y="478231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33D"/>
                </a:solidFill>
              </a:rPr>
              <a:t>Brute Force: O(n!)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498080" y="47823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33D"/>
                </a:solidFill>
              </a:rPr>
              <a:t>Held-Karp DP: O(n²·2ⁿ)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582912" y="47823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233D"/>
                </a:solidFill>
              </a:rPr>
              <a:t>B&amp;B: exponential worst case</a:t>
            </a:r>
            <a:endParaRPr lang="en-US" sz="1120" dirty="0"/>
          </a:p>
        </p:txBody>
      </p:sp>
      <p:sp>
        <p:nvSpPr>
          <p:cNvPr id="43" name="Text 41"/>
          <p:cNvSpPr/>
          <p:nvPr/>
        </p:nvSpPr>
        <p:spPr>
          <a:xfrm>
            <a:off x="4754880" y="5577840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Distance model: Euclidean distance between the entered coordinates.</a:t>
            </a:r>
            <a:endParaRPr lang="en-US" sz="107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3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Demo &amp; Impact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A working optimizer with an understandable visual result.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745236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blurRad="12700" dist="50800" dir="2700000" algn="bl" rotWithShape="0">
              <a:srgbClr val="9AA6B2">
                <a:alpha val="13000"/>
              </a:srgbClr>
            </a:outerShdw>
          </a:effectLst>
        </p:spPr>
      </p:sp>
      <p:pic>
        <p:nvPicPr>
          <p:cNvPr id="5" name="Image 0" descr="/mnt/data/image(20261003-062937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17904"/>
            <a:ext cx="7114032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" y="5797296"/>
            <a:ext cx="1417320" cy="310896"/>
          </a:xfrm>
          <a:prstGeom prst="roundRect">
            <a:avLst>
              <a:gd name="adj" fmla="val 20588"/>
            </a:avLst>
          </a:prstGeom>
          <a:solidFill>
            <a:srgbClr val="0EA66B"/>
          </a:solidFill>
          <a:ln w="12700">
            <a:solidFill>
              <a:srgbClr val="0EA6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" y="581558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LIVE DEMO SCREENSHOT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395728" y="5815584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667085"/>
                </a:solidFill>
              </a:rPr>
              <a:t>The current demo shows 1 depot + 6 customers, an optimized route, visit order, and route direction.</a:t>
            </a:r>
            <a:endParaRPr lang="en-US" sz="1060" dirty="0"/>
          </a:p>
        </p:txBody>
      </p:sp>
      <p:sp>
        <p:nvSpPr>
          <p:cNvPr id="9" name="Shape 6"/>
          <p:cNvSpPr/>
          <p:nvPr/>
        </p:nvSpPr>
        <p:spPr>
          <a:xfrm>
            <a:off x="8247888" y="1298448"/>
            <a:ext cx="3401568" cy="498348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blurRad="12700" dist="50800" dir="2700000" algn="bl" rotWithShape="0">
              <a:srgbClr val="9AA6B2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503920" y="1572768"/>
            <a:ext cx="1417320" cy="310896"/>
          </a:xfrm>
          <a:prstGeom prst="roundRect">
            <a:avLst>
              <a:gd name="adj" fmla="val 20588"/>
            </a:avLst>
          </a:prstGeom>
          <a:solidFill>
            <a:srgbClr val="2458D3"/>
          </a:solidFill>
          <a:ln w="12700">
            <a:solidFill>
              <a:srgbClr val="2458D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0" y="159105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WHAT THE JUDGE SEES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503920" y="210312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blurRad="12700" dist="50800" dir="2700000" algn="bl" rotWithShape="0">
              <a:srgbClr val="9AA6B2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503920" y="2103120"/>
            <a:ext cx="73152" cy="914400"/>
          </a:xfrm>
          <a:prstGeom prst="rect">
            <a:avLst/>
          </a:prstGeom>
          <a:solidFill>
            <a:srgbClr val="2458D3"/>
          </a:solidFill>
          <a:ln w="12700">
            <a:solidFill>
              <a:srgbClr val="2458D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68512" y="22677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33D"/>
                </a:solidFill>
              </a:rPr>
              <a:t>1 → 6 → 1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668512" y="263347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Depot → customers → depot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503920" y="315468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blurRad="12700" dist="50800" dir="2700000" algn="bl" rotWithShape="0">
              <a:srgbClr val="9AA6B2">
                <a:alpha val="13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503920" y="3154680"/>
            <a:ext cx="73152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68512" y="33192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33D"/>
                </a:solidFill>
              </a:rPr>
              <a:t>2 exact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668512" y="368503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DP + Branch &amp; Bound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503920" y="420624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blurRad="12700" dist="50800" dir="2700000" algn="bl" rotWithShape="0">
              <a:srgbClr val="9AA6B2">
                <a:alpha val="13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503920" y="4206240"/>
            <a:ext cx="73152" cy="914400"/>
          </a:xfrm>
          <a:prstGeom prst="rect">
            <a:avLst/>
          </a:prstGeom>
          <a:solidFill>
            <a:srgbClr val="0EA66B"/>
          </a:solidFill>
          <a:ln w="12700">
            <a:solidFill>
              <a:srgbClr val="0EA6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68512" y="43708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33D"/>
                </a:solidFill>
              </a:rPr>
              <a:t>Real-time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8668512" y="473659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Route + distance + stats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8503920" y="53949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33D"/>
                </a:solidFill>
              </a:rPr>
              <a:t>Practical benefits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503920" y="5742432"/>
            <a:ext cx="73152" cy="73152"/>
          </a:xfrm>
          <a:prstGeom prst="ellipse">
            <a:avLst/>
          </a:prstGeom>
          <a:solidFill>
            <a:srgbClr val="2458D3"/>
          </a:solidFill>
          <a:ln w="12700">
            <a:solidFill>
              <a:srgbClr val="2458D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50224" y="5650992"/>
            <a:ext cx="2642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334155"/>
                </a:solidFill>
              </a:rPr>
              <a:t>Makes route planning explainable</a:t>
            </a:r>
            <a:endParaRPr lang="en-US" sz="104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3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Future Vision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Where the prototype can go next.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blurRad="12700" dist="50800" dir="2700000" algn="bl" rotWithShape="0">
              <a:srgbClr val="9AA6B2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664208"/>
            <a:ext cx="1417320" cy="329184"/>
          </a:xfrm>
          <a:prstGeom prst="roundRect">
            <a:avLst>
              <a:gd name="adj" fmla="val 19444"/>
            </a:avLst>
          </a:prstGeom>
          <a:solidFill>
            <a:srgbClr val="2458D3"/>
          </a:solidFill>
          <a:ln w="12700">
            <a:solidFill>
              <a:srgbClr val="245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17373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Current achievement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2423160"/>
            <a:ext cx="73152" cy="73152"/>
          </a:xfrm>
          <a:prstGeom prst="ellipse">
            <a:avLst/>
          </a:prstGeom>
          <a:solidFill>
            <a:srgbClr val="2458D3"/>
          </a:solidFill>
          <a:ln w="12700">
            <a:solidFill>
              <a:srgbClr val="245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2331720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Working TSP optimizer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822960" y="3063240"/>
            <a:ext cx="73152" cy="73152"/>
          </a:xfrm>
          <a:prstGeom prst="ellipse">
            <a:avLst/>
          </a:prstGeom>
          <a:solidFill>
            <a:srgbClr val="2458D3"/>
          </a:solidFill>
          <a:ln w="12700">
            <a:solidFill>
              <a:srgbClr val="2458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2971800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Interactive location input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822960" y="3703320"/>
            <a:ext cx="73152" cy="73152"/>
          </a:xfrm>
          <a:prstGeom prst="ellipse">
            <a:avLst/>
          </a:prstGeom>
          <a:solidFill>
            <a:srgbClr val="2458D3"/>
          </a:solidFill>
          <a:ln w="12700">
            <a:solidFill>
              <a:srgbClr val="245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3611880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DP + Branch &amp; Bound comparison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822960" y="4343400"/>
            <a:ext cx="73152" cy="73152"/>
          </a:xfrm>
          <a:prstGeom prst="ellipse">
            <a:avLst/>
          </a:prstGeom>
          <a:solidFill>
            <a:srgbClr val="2458D3"/>
          </a:solidFill>
          <a:ln w="12700">
            <a:solidFill>
              <a:srgbClr val="2458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251960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Route visualization + API layer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4389120" y="141732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blurRad="12700" dist="50800" dir="2700000" algn="bl" rotWithShape="0">
              <a:srgbClr val="9AA6B2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08576" y="1664208"/>
            <a:ext cx="1417320" cy="329184"/>
          </a:xfrm>
          <a:prstGeom prst="roundRect">
            <a:avLst>
              <a:gd name="adj" fmla="val 19444"/>
            </a:avLst>
          </a:prstGeom>
          <a:solidFill>
            <a:srgbClr val="0EA66B"/>
          </a:solidFill>
          <a:ln w="12700">
            <a:solidFill>
              <a:srgbClr val="0EA6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36008" y="17373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Future improvements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45152" y="2423160"/>
            <a:ext cx="73152" cy="73152"/>
          </a:xfrm>
          <a:prstGeom prst="ellipse">
            <a:avLst/>
          </a:prstGeom>
          <a:solidFill>
            <a:srgbClr val="0EA66B"/>
          </a:solidFill>
          <a:ln w="12700">
            <a:solidFill>
              <a:srgbClr val="0EA6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456" y="2331720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Real map / road-network distances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4645152" y="3063240"/>
            <a:ext cx="73152" cy="73152"/>
          </a:xfrm>
          <a:prstGeom prst="ellipse">
            <a:avLst/>
          </a:prstGeom>
          <a:solidFill>
            <a:srgbClr val="0EA66B"/>
          </a:solidFill>
          <a:ln w="12700">
            <a:solidFill>
              <a:srgbClr val="0EA6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1456" y="2971800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Delivery time windows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4645152" y="3703320"/>
            <a:ext cx="73152" cy="73152"/>
          </a:xfrm>
          <a:prstGeom prst="ellipse">
            <a:avLst/>
          </a:prstGeom>
          <a:solidFill>
            <a:srgbClr val="0EA66B"/>
          </a:solidFill>
          <a:ln w="12700">
            <a:solidFill>
              <a:srgbClr val="0EA6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3611880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Vehicle capacity constraints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4645152" y="4343400"/>
            <a:ext cx="73152" cy="73152"/>
          </a:xfrm>
          <a:prstGeom prst="ellipse">
            <a:avLst/>
          </a:prstGeom>
          <a:solidFill>
            <a:srgbClr val="0EA66B"/>
          </a:solidFill>
          <a:ln w="12700">
            <a:solidFill>
              <a:srgbClr val="0EA6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4251960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Multiple vehicles / depots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8211312" y="141732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blurRad="12700" dist="50800" dir="2700000" algn="bl" rotWithShape="0">
              <a:srgbClr val="9AA6B2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430768" y="1664208"/>
            <a:ext cx="1417320" cy="329184"/>
          </a:xfrm>
          <a:prstGeom prst="roundRect">
            <a:avLst>
              <a:gd name="adj" fmla="val 1944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58200" y="17373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Scalability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467344" y="242316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13648" y="2331720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Heuristics for larger inputs</a:t>
            </a: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8467344" y="306324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13648" y="2971800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Caching repeated route states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8467344" y="37033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13648" y="3611880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Batch optimization jobs</a:t>
            </a:r>
            <a:endParaRPr lang="en-US" sz="1180" dirty="0"/>
          </a:p>
        </p:txBody>
      </p:sp>
      <p:sp>
        <p:nvSpPr>
          <p:cNvPr id="35" name="Shape 33"/>
          <p:cNvSpPr/>
          <p:nvPr/>
        </p:nvSpPr>
        <p:spPr>
          <a:xfrm>
            <a:off x="8467344" y="434340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13648" y="4251960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Cloud deployment + monitoring</a:t>
            </a:r>
            <a:endParaRPr lang="en-US" sz="1180" dirty="0"/>
          </a:p>
        </p:txBody>
      </p:sp>
      <p:sp>
        <p:nvSpPr>
          <p:cNvPr id="37" name="Text 35"/>
          <p:cNvSpPr/>
          <p:nvPr/>
        </p:nvSpPr>
        <p:spPr>
          <a:xfrm>
            <a:off x="713232" y="589788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458D3"/>
                </a:solidFill>
              </a:rPr>
              <a:t>FINAL TAKEAWAY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847088" y="587044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33D"/>
                </a:solidFill>
              </a:rPr>
              <a:t>We turn a combinatorial delivery problem into an interactive, explainable optimization demo.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290304" y="579729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67085"/>
                </a:solidFill>
              </a:rPr>
              <a:t>GitHub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290304" y="5998464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458D3"/>
                </a:solidFill>
              </a:rPr>
              <a:t>github.com/kundansreeteja-cloud/DeliveryRouteOptimizer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290304" y="507492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0233D"/>
                </a:solidFill>
              </a:rPr>
              <a:t>Thank You • Q&amp;A</a:t>
            </a:r>
            <a:endParaRPr lang="en-US" sz="20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682</Words>
  <Application>Microsoft Office PowerPoint</Application>
  <PresentationFormat>Widescreen</PresentationFormat>
  <Paragraphs>142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Hackathon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Delivery Route Optimizer</dc:title>
  <dc:subject>Delivery Route Optimizer</dc:subject>
  <dc:creator>Hackathon Team</dc:creator>
  <cp:lastModifiedBy>kundan sreeteja</cp:lastModifiedBy>
  <cp:revision>2</cp:revision>
  <dcterms:created xsi:type="dcterms:W3CDTF">2026-10-03T08:42:00Z</dcterms:created>
  <dcterms:modified xsi:type="dcterms:W3CDTF">2026-10-03T08:49:06Z</dcterms:modified>
</cp:coreProperties>
</file>